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2286000"/>
          </a:xfrm>
          <a:prstGeom prst="rect">
            <a:avLst/>
          </a:prstGeom>
          <a:solidFill>
            <a:srgbClr val="3730A3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640080"/>
            <a:ext cx="11091672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Aerivio Systems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2743200"/>
            <a:ext cx="11091672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Commercialization Plan — SBIR Phase I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48640" y="3383280"/>
            <a:ext cx="11091672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Edge-AI acoustic threat classification for unmanned surface vessels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48640" y="3794760"/>
            <a:ext cx="11091672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Topic N251-042 · AFWERX SBIR Phase I (CSO) · $150,000 / 6 months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3730A3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3730A3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84048"/>
            <a:ext cx="11091672" cy="82296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3730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 Opportunity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243584"/>
            <a:ext cx="2194560" cy="50292"/>
          </a:xfrm>
          <a:prstGeom prst="rect">
            <a:avLst/>
          </a:prstGeom>
          <a:solidFill>
            <a:srgbClr val="3730A3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554480"/>
            <a:ext cx="11091672" cy="15361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DoD USV fleet (Air Force &amp; Navy) projected to exceed 300 hulls by 2030 — each needs edge acoustic sensing</a:t>
            </a:r>
            <a:endParaRPr lang="en-US" sz="1800" dirty="0"/>
          </a:p>
          <a:p>
            <a:pPr marL="228600" indent="-2286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Beachhead: DoD USV programs of record</a:t>
            </a:r>
            <a:endParaRPr lang="en-US" sz="1800" dirty="0"/>
          </a:p>
          <a:p>
            <a:pPr marL="228600" indent="-2286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Expansion: allied navies + commercial maritime security (ports, offshore energy)</a:t>
            </a:r>
            <a:endParaRPr lang="en-US" sz="1800" dirty="0"/>
          </a:p>
          <a:p>
            <a:pPr marL="228600" indent="-2286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Serviceable market growing ~$8M → $60M+ per year by 2030</a:t>
            </a:r>
            <a:endParaRPr lang="en-US" sz="18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85516" y="3200400"/>
            <a:ext cx="6217920" cy="2826327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1274552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3730A3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84048"/>
            <a:ext cx="11091672" cy="82296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3730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Competition &amp; Differentiation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243584"/>
            <a:ext cx="2194560" cy="50292"/>
          </a:xfrm>
          <a:prstGeom prst="rect">
            <a:avLst/>
          </a:prstGeom>
          <a:solidFill>
            <a:srgbClr val="3730A3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554480"/>
            <a:ext cx="11091672" cy="15361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Incumbents process acoustics shore-side → latency + comms dependence</a:t>
            </a:r>
            <a:endParaRPr lang="en-US" sz="1800" dirty="0"/>
          </a:p>
          <a:p>
            <a:pPr marL="228600" indent="-2286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Aerivio runs fully on-vessel at 2 watts, &lt;100 ms</a:t>
            </a:r>
            <a:endParaRPr lang="en-US" sz="1800" dirty="0"/>
          </a:p>
          <a:p>
            <a:pPr marL="228600" indent="-2286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Defensible IP: saliency-guided quantization pipeline (patent pending)</a:t>
            </a:r>
            <a:endParaRPr lang="en-US" sz="1800" dirty="0"/>
          </a:p>
          <a:p>
            <a:pPr marL="228600" indent="-2286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Retrofits deployed hulls — no new hardware program required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48640" y="3200400"/>
            <a:ext cx="11091672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line: we </a:t>
            </a:r>
            <a:pPr indent="0" marL="0">
              <a:buNone/>
            </a:pPr>
            <a:r>
              <a:rPr lang="en-US" sz="18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 where connectivity fails</a:t>
            </a:r>
            <a:pPr indent="0" marL="0">
              <a:buNone/>
            </a:pPr>
            <a:r>
              <a:rPr lang="en-US" sz="1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exactly the contested environment that matters.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1274552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3730A3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84048"/>
            <a:ext cx="11091672" cy="82296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3730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Go-to-Market &amp; Milestones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243584"/>
            <a:ext cx="2194560" cy="50292"/>
          </a:xfrm>
          <a:prstGeom prst="rect">
            <a:avLst/>
          </a:prstGeom>
          <a:solidFill>
            <a:srgbClr val="3730A3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554480"/>
            <a:ext cx="11091672" cy="15361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lnSpc>
                <a:spcPct val="105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I (now): feasibility on the maritime corpus, months 1–6</a:t>
            </a:r>
            <a:endParaRPr lang="en-US" sz="1800" dirty="0"/>
          </a:p>
          <a:p>
            <a:pPr marL="228600" indent="-228600">
              <a:lnSpc>
                <a:spcPct val="105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II: hardened module + at-sea demonstration (~$1.1M / 24 mo)</a:t>
            </a:r>
            <a:endParaRPr lang="en-US" sz="1800" dirty="0"/>
          </a:p>
          <a:p>
            <a:pPr marL="228600" indent="-228600">
              <a:lnSpc>
                <a:spcPct val="105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III: transition to a DoD USV program of record</a:t>
            </a:r>
            <a:endParaRPr lang="en-US" sz="1800" dirty="0"/>
          </a:p>
          <a:p>
            <a:pPr marL="228600" indent="-228600">
              <a:lnSpc>
                <a:spcPct val="105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Commercial: port-security &amp; offshore-energy monitoring (dual-use)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48640" y="3200400"/>
            <a:ext cx="11091672" cy="5120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Transition is a software integration, not a hardware program — a low-barrier path to a funded home.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1274552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3730A3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84048"/>
            <a:ext cx="11091672" cy="82296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3730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Financials &amp; The Ask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243584"/>
            <a:ext cx="2194560" cy="50292"/>
          </a:xfrm>
          <a:prstGeom prst="rect">
            <a:avLst/>
          </a:prstGeom>
          <a:solidFill>
            <a:srgbClr val="3730A3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554480"/>
            <a:ext cx="11091672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I budget: </a:t>
            </a:r>
            <a:pPr indent="0" marL="0">
              <a:buNone/>
            </a:pPr>
            <a:r>
              <a:rPr lang="en-US" sz="18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$150,000</a:t>
            </a:r>
            <a:pPr indent="0" marL="0">
              <a:buNone/>
            </a:pPr>
            <a:r>
              <a:rPr lang="en-US" sz="1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over 6 months.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48640" y="1984248"/>
            <a:ext cx="11091672" cy="15361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 of 3 (PI + systems + ML engineer)</a:t>
            </a:r>
            <a:endParaRPr lang="en-US" sz="1800" dirty="0"/>
          </a:p>
          <a:p>
            <a:pPr marL="228600" indent="-2286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Deliverable: validated 4-bit edge classifier meeting all three gates</a:t>
            </a:r>
            <a:endParaRPr lang="en-US" sz="1800" dirty="0"/>
          </a:p>
          <a:p>
            <a:pPr marL="228600" indent="-2286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II target: $1.1M for an at-sea demonstration</a:t>
            </a:r>
            <a:endParaRPr lang="en-US" sz="1800" dirty="0"/>
          </a:p>
          <a:p>
            <a:pPr marL="228600" indent="-2286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Commercial revenue path reduces single-program reliance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548640" y="3630168"/>
            <a:ext cx="11091672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3730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Ask: fund Phase I to de-risk the edge classifier and unlock the transition path.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1274552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Aerivio Commercialization</dc:title>
  <dc:subject>PptxGenJS Presentation</dc:subject>
  <dc:creator>PptxGenJS</dc:creator>
  <cp:lastModifiedBy>PptxGenJS</cp:lastModifiedBy>
  <cp:revision>1</cp:revision>
  <dcterms:created xsi:type="dcterms:W3CDTF">2026-07-18T01:20:11Z</dcterms:created>
  <dcterms:modified xsi:type="dcterms:W3CDTF">2026-07-18T01:20:11Z</dcterms:modified>
</cp:coreProperties>
</file>